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y="6858000" cx="12192000"/>
  <p:notesSz cx="6858000" cy="9144000"/>
  <p:embeddedFontLst>
    <p:embeddedFont>
      <p:font typeface="Helvetica Neue"/>
      <p:regular r:id="rId21"/>
      <p:bold r:id="rId22"/>
      <p:italic r:id="rId23"/>
      <p:boldItalic r:id="rId24"/>
    </p:embeddedFont>
    <p:embeddedFont>
      <p:font typeface="Open Sans"/>
      <p:regular r:id="rId25"/>
      <p:bold r:id="rId26"/>
      <p:italic r:id="rId27"/>
      <p:boldItalic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font" Target="fonts/HelveticaNeue-bold.fntdata"/><Relationship Id="rId21" Type="http://schemas.openxmlformats.org/officeDocument/2006/relationships/font" Target="fonts/HelveticaNeue-regular.fntdata"/><Relationship Id="rId24" Type="http://schemas.openxmlformats.org/officeDocument/2006/relationships/font" Target="fonts/HelveticaNeue-boldItalic.fntdata"/><Relationship Id="rId23" Type="http://schemas.openxmlformats.org/officeDocument/2006/relationships/font" Target="fonts/HelveticaNeue-italic.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OpenSans-bold.fntdata"/><Relationship Id="rId25" Type="http://schemas.openxmlformats.org/officeDocument/2006/relationships/font" Target="fonts/OpenSans-regular.fntdata"/><Relationship Id="rId28" Type="http://schemas.openxmlformats.org/officeDocument/2006/relationships/font" Target="fonts/OpenSans-boldItalic.fntdata"/><Relationship Id="rId27" Type="http://schemas.openxmlformats.org/officeDocument/2006/relationships/font" Target="fonts/OpenSans-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 name="Shape 117"/>
        <p:cNvGrpSpPr/>
        <p:nvPr/>
      </p:nvGrpSpPr>
      <p:grpSpPr>
        <a:xfrm>
          <a:off x="0" y="0"/>
          <a:ext cx="0" cy="0"/>
          <a:chOff x="0" y="0"/>
          <a:chExt cx="0" cy="0"/>
        </a:xfrm>
      </p:grpSpPr>
      <p:sp>
        <p:nvSpPr>
          <p:cNvPr id="118" name="Google Shape;11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2" name="Shape 132"/>
        <p:cNvGrpSpPr/>
        <p:nvPr/>
      </p:nvGrpSpPr>
      <p:grpSpPr>
        <a:xfrm>
          <a:off x="0" y="0"/>
          <a:ext cx="0" cy="0"/>
          <a:chOff x="0" y="0"/>
          <a:chExt cx="0" cy="0"/>
        </a:xfrm>
      </p:grpSpPr>
      <p:sp>
        <p:nvSpPr>
          <p:cNvPr id="133" name="Google Shape;133;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5" name="Google Shape;175;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p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1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Open Sans"/>
              <a:buNone/>
              <a:defRPr b="1" i="0" sz="6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l">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17" name="Google Shape;17;p2"/>
          <p:cNvCxnSpPr/>
          <p:nvPr/>
        </p:nvCxnSpPr>
        <p:spPr>
          <a:xfrm>
            <a:off x="715890" y="1114050"/>
            <a:ext cx="0" cy="5735637"/>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 name="Shape 18"/>
        <p:cNvGrpSpPr/>
        <p:nvPr/>
      </p:nvGrpSpPr>
      <p:grpSpPr>
        <a:xfrm>
          <a:off x="0" y="0"/>
          <a:ext cx="0" cy="0"/>
          <a:chOff x="0" y="0"/>
          <a:chExt cx="0" cy="0"/>
        </a:xfrm>
      </p:grpSpPr>
      <p:sp>
        <p:nvSpPr>
          <p:cNvPr id="19" name="Google Shape;19;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 name="Google Shape;20;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 name="Google Shape;21;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24" name="Google Shape;24;p3"/>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5" name="Shape 25"/>
        <p:cNvGrpSpPr/>
        <p:nvPr/>
      </p:nvGrpSpPr>
      <p:grpSpPr>
        <a:xfrm>
          <a:off x="0" y="0"/>
          <a:ext cx="0" cy="0"/>
          <a:chOff x="0" y="0"/>
          <a:chExt cx="0" cy="0"/>
        </a:xfrm>
      </p:grpSpPr>
      <p:sp>
        <p:nvSpPr>
          <p:cNvPr id="26" name="Google Shape;26;p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8" name="Google Shape;28;p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2" name="Google Shape;32;p4"/>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5"/>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Open Sans"/>
              <a:buNone/>
              <a:defRPr b="1" i="0" sz="6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5"/>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6" name="Google Shape;36;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7" name="Google Shape;37;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39" name="Google Shape;39;p5"/>
          <p:cNvCxnSpPr/>
          <p:nvPr/>
        </p:nvCxnSpPr>
        <p:spPr>
          <a:xfrm>
            <a:off x="715890" y="1701425"/>
            <a:ext cx="0" cy="5148262"/>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3" name="Google Shape;43;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4" name="Google Shape;44;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5" name="Google Shape;45;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49" name="Google Shape;49;p6"/>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0" name="Shape 50"/>
        <p:cNvGrpSpPr/>
        <p:nvPr/>
      </p:nvGrpSpPr>
      <p:grpSpPr>
        <a:xfrm>
          <a:off x="0" y="0"/>
          <a:ext cx="0" cy="0"/>
          <a:chOff x="0" y="0"/>
          <a:chExt cx="0" cy="0"/>
        </a:xfrm>
      </p:grpSpPr>
      <p:sp>
        <p:nvSpPr>
          <p:cNvPr id="51" name="Google Shape;5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2" name="Google Shape;5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55" name="Google Shape;55;p7"/>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6" name="Shape 56"/>
        <p:cNvGrpSpPr/>
        <p:nvPr/>
      </p:nvGrpSpPr>
      <p:grpSpPr>
        <a:xfrm>
          <a:off x="0" y="0"/>
          <a:ext cx="0" cy="0"/>
          <a:chOff x="0" y="0"/>
          <a:chExt cx="0" cy="0"/>
        </a:xfrm>
      </p:grpSpPr>
      <p:sp>
        <p:nvSpPr>
          <p:cNvPr id="57" name="Google Shape;57;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8" name="Google Shape;58;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0" name="Google Shape;60;p8"/>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1" name="Shape 61"/>
        <p:cNvGrpSpPr/>
        <p:nvPr/>
      </p:nvGrpSpPr>
      <p:grpSpPr>
        <a:xfrm>
          <a:off x="0" y="0"/>
          <a:ext cx="0" cy="0"/>
          <a:chOff x="0" y="0"/>
          <a:chExt cx="0" cy="0"/>
        </a:xfrm>
      </p:grpSpPr>
      <p:sp>
        <p:nvSpPr>
          <p:cNvPr id="62" name="Google Shape;62;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4" name="Google Shape;64;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5" name="Google Shape;65;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68" name="Google Shape;68;p9"/>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9" name="Shape 69"/>
        <p:cNvGrpSpPr/>
        <p:nvPr/>
      </p:nvGrpSpPr>
      <p:grpSpPr>
        <a:xfrm>
          <a:off x="0" y="0"/>
          <a:ext cx="0" cy="0"/>
          <a:chOff x="0" y="0"/>
          <a:chExt cx="0" cy="0"/>
        </a:xfrm>
      </p:grpSpPr>
      <p:sp>
        <p:nvSpPr>
          <p:cNvPr id="70" name="Google Shape;70;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Open Sans"/>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10"/>
          <p:cNvSpPr/>
          <p:nvPr>
            <p:ph idx="2" type="pic"/>
          </p:nvPr>
        </p:nvSpPr>
        <p:spPr>
          <a:xfrm>
            <a:off x="5183188" y="987425"/>
            <a:ext cx="6172200" cy="4873625"/>
          </a:xfrm>
          <a:prstGeom prst="rect">
            <a:avLst/>
          </a:prstGeom>
          <a:noFill/>
          <a:ln>
            <a:noFill/>
          </a:ln>
        </p:spPr>
      </p:sp>
      <p:sp>
        <p:nvSpPr>
          <p:cNvPr id="72" name="Google Shape;72;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3" name="Google Shape;73;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5" name="Google Shape;75;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76" name="Google Shape;76;p10"/>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7" name="Shape 77"/>
        <p:cNvGrpSpPr/>
        <p:nvPr/>
      </p:nvGrpSpPr>
      <p:grpSpPr>
        <a:xfrm>
          <a:off x="0" y="0"/>
          <a:ext cx="0" cy="0"/>
          <a:chOff x="0" y="0"/>
          <a:chExt cx="0" cy="0"/>
        </a:xfrm>
      </p:grpSpPr>
      <p:sp>
        <p:nvSpPr>
          <p:cNvPr id="78" name="Google Shape;78;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9" name="Google Shape;79;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0" name="Google Shape;80;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83" name="Google Shape;83;p11"/>
          <p:cNvCxnSpPr/>
          <p:nvPr/>
        </p:nvCxnSpPr>
        <p:spPr>
          <a:xfrm>
            <a:off x="715890" y="356812"/>
            <a:ext cx="0" cy="6492875"/>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6" name="Google Shape;8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7" name="Google Shape;8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cxnSp>
        <p:nvCxnSpPr>
          <p:cNvPr id="90" name="Google Shape;90;p12"/>
          <p:cNvCxnSpPr/>
          <p:nvPr/>
        </p:nvCxnSpPr>
        <p:spPr>
          <a:xfrm flipH="1" rot="10800000">
            <a:off x="8313" y="261865"/>
            <a:ext cx="11353802" cy="1"/>
          </a:xfrm>
          <a:prstGeom prst="straightConnector1">
            <a:avLst/>
          </a:prstGeom>
          <a:noFill/>
          <a:ln cap="sq" cmpd="sng" w="25400">
            <a:solidFill>
              <a:schemeClr val="accent2"/>
            </a:solidFill>
            <a:prstDash val="solid"/>
            <a:bevel/>
            <a:headEnd len="sm" w="sm" type="none"/>
            <a:tailEnd len="sm" w="sm" type="none"/>
          </a:ln>
        </p:spPr>
      </p:cxn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Open Sans"/>
              <a:buNone/>
              <a:defRPr b="0" i="0" sz="4400" u="none" cap="none" strike="noStrike">
                <a:solidFill>
                  <a:schemeClr val="dk1"/>
                </a:solidFill>
                <a:latin typeface="Open Sans"/>
                <a:ea typeface="Open Sans"/>
                <a:cs typeface="Open Sans"/>
                <a:sym typeface="Open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pen Sans"/>
                <a:ea typeface="Open Sans"/>
                <a:cs typeface="Open Sans"/>
                <a:sym typeface="Open Sans"/>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pen Sans"/>
                <a:ea typeface="Open Sans"/>
                <a:cs typeface="Open Sans"/>
                <a:sym typeface="Open Sans"/>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pen Sans"/>
                <a:ea typeface="Open Sans"/>
                <a:cs typeface="Open Sans"/>
                <a:sym typeface="Open Sans"/>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pen Sans"/>
                <a:ea typeface="Open Sans"/>
                <a:cs typeface="Open Sans"/>
                <a:sym typeface="Open Sans"/>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1" i="0" sz="1200" u="none" cap="none" strike="noStrike">
                <a:solidFill>
                  <a:srgbClr val="888888"/>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1" i="0" sz="1200" u="none" cap="none" strike="noStrike">
                <a:solidFill>
                  <a:srgbClr val="888888"/>
                </a:solidFill>
                <a:latin typeface="Open Sans"/>
                <a:ea typeface="Open Sans"/>
                <a:cs typeface="Open Sans"/>
                <a:sym typeface="Open Sans"/>
              </a:defRPr>
            </a:lvl1pPr>
            <a:lvl2pPr lvl="1"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2pPr>
            <a:lvl3pPr lvl="2"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3pPr>
            <a:lvl4pPr lvl="3"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4pPr>
            <a:lvl5pPr lvl="4"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5pPr>
            <a:lvl6pPr lvl="5"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6pPr>
            <a:lvl7pPr lvl="6"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7pPr>
            <a:lvl8pPr lvl="7"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8pPr>
            <a:lvl9pPr lvl="8" marR="0" rtl="0" algn="l">
              <a:spcBef>
                <a:spcPts val="0"/>
              </a:spcBef>
              <a:spcAft>
                <a:spcPts val="0"/>
              </a:spcAft>
              <a:buSzPts val="1400"/>
              <a:buNone/>
              <a:defRPr b="0" i="0" sz="1800" u="none" cap="none" strike="noStrike">
                <a:solidFill>
                  <a:schemeClr val="dk1"/>
                </a:solidFill>
                <a:latin typeface="Open Sans"/>
                <a:ea typeface="Open Sans"/>
                <a:cs typeface="Open Sans"/>
                <a:sym typeface="Open Sans"/>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1" i="0" sz="1200" u="none" cap="none" strike="noStrike">
                <a:solidFill>
                  <a:srgbClr val="888888"/>
                </a:solidFill>
                <a:latin typeface="Open Sans"/>
                <a:ea typeface="Open Sans"/>
                <a:cs typeface="Open Sans"/>
                <a:sym typeface="Open Sans"/>
              </a:defRPr>
            </a:lvl1pPr>
            <a:lvl2pPr indent="0" lvl="1" marL="0" marR="0" rtl="0" algn="r">
              <a:spcBef>
                <a:spcPts val="0"/>
              </a:spcBef>
              <a:buNone/>
              <a:defRPr b="1" i="0" sz="1200" u="none" cap="none" strike="noStrike">
                <a:solidFill>
                  <a:srgbClr val="888888"/>
                </a:solidFill>
                <a:latin typeface="Open Sans"/>
                <a:ea typeface="Open Sans"/>
                <a:cs typeface="Open Sans"/>
                <a:sym typeface="Open Sans"/>
              </a:defRPr>
            </a:lvl2pPr>
            <a:lvl3pPr indent="0" lvl="2" marL="0" marR="0" rtl="0" algn="r">
              <a:spcBef>
                <a:spcPts val="0"/>
              </a:spcBef>
              <a:buNone/>
              <a:defRPr b="1" i="0" sz="1200" u="none" cap="none" strike="noStrike">
                <a:solidFill>
                  <a:srgbClr val="888888"/>
                </a:solidFill>
                <a:latin typeface="Open Sans"/>
                <a:ea typeface="Open Sans"/>
                <a:cs typeface="Open Sans"/>
                <a:sym typeface="Open Sans"/>
              </a:defRPr>
            </a:lvl3pPr>
            <a:lvl4pPr indent="0" lvl="3" marL="0" marR="0" rtl="0" algn="r">
              <a:spcBef>
                <a:spcPts val="0"/>
              </a:spcBef>
              <a:buNone/>
              <a:defRPr b="1" i="0" sz="1200" u="none" cap="none" strike="noStrike">
                <a:solidFill>
                  <a:srgbClr val="888888"/>
                </a:solidFill>
                <a:latin typeface="Open Sans"/>
                <a:ea typeface="Open Sans"/>
                <a:cs typeface="Open Sans"/>
                <a:sym typeface="Open Sans"/>
              </a:defRPr>
            </a:lvl4pPr>
            <a:lvl5pPr indent="0" lvl="4" marL="0" marR="0" rtl="0" algn="r">
              <a:spcBef>
                <a:spcPts val="0"/>
              </a:spcBef>
              <a:buNone/>
              <a:defRPr b="1" i="0" sz="1200" u="none" cap="none" strike="noStrike">
                <a:solidFill>
                  <a:srgbClr val="888888"/>
                </a:solidFill>
                <a:latin typeface="Open Sans"/>
                <a:ea typeface="Open Sans"/>
                <a:cs typeface="Open Sans"/>
                <a:sym typeface="Open Sans"/>
              </a:defRPr>
            </a:lvl5pPr>
            <a:lvl6pPr indent="0" lvl="5" marL="0" marR="0" rtl="0" algn="r">
              <a:spcBef>
                <a:spcPts val="0"/>
              </a:spcBef>
              <a:buNone/>
              <a:defRPr b="1" i="0" sz="1200" u="none" cap="none" strike="noStrike">
                <a:solidFill>
                  <a:srgbClr val="888888"/>
                </a:solidFill>
                <a:latin typeface="Open Sans"/>
                <a:ea typeface="Open Sans"/>
                <a:cs typeface="Open Sans"/>
                <a:sym typeface="Open Sans"/>
              </a:defRPr>
            </a:lvl6pPr>
            <a:lvl7pPr indent="0" lvl="6" marL="0" marR="0" rtl="0" algn="r">
              <a:spcBef>
                <a:spcPts val="0"/>
              </a:spcBef>
              <a:buNone/>
              <a:defRPr b="1" i="0" sz="1200" u="none" cap="none" strike="noStrike">
                <a:solidFill>
                  <a:srgbClr val="888888"/>
                </a:solidFill>
                <a:latin typeface="Open Sans"/>
                <a:ea typeface="Open Sans"/>
                <a:cs typeface="Open Sans"/>
                <a:sym typeface="Open Sans"/>
              </a:defRPr>
            </a:lvl7pPr>
            <a:lvl8pPr indent="0" lvl="7" marL="0" marR="0" rtl="0" algn="r">
              <a:spcBef>
                <a:spcPts val="0"/>
              </a:spcBef>
              <a:buNone/>
              <a:defRPr b="1" i="0" sz="1200" u="none" cap="none" strike="noStrike">
                <a:solidFill>
                  <a:srgbClr val="888888"/>
                </a:solidFill>
                <a:latin typeface="Open Sans"/>
                <a:ea typeface="Open Sans"/>
                <a:cs typeface="Open Sans"/>
                <a:sym typeface="Open Sans"/>
              </a:defRPr>
            </a:lvl8pPr>
            <a:lvl9pPr indent="0" lvl="8" marL="0" marR="0" rtl="0" algn="r">
              <a:spcBef>
                <a:spcPts val="0"/>
              </a:spcBef>
              <a:buNone/>
              <a:defRPr b="1" i="0" sz="1200" u="none" cap="none" strike="noStrike">
                <a:solidFill>
                  <a:srgbClr val="888888"/>
                </a:solidFill>
                <a:latin typeface="Open Sans"/>
                <a:ea typeface="Open Sans"/>
                <a:cs typeface="Open Sans"/>
                <a:sym typeface="Open Sans"/>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s://s3.us.cloud-object-storage.appdomain.cloud/cf-courses-data/CognitiveClass/DP0701EN/version-2/Data-Collisions.csv" TargetMode="External"/><Relationship Id="rId4" Type="http://schemas.openxmlformats.org/officeDocument/2006/relationships/hyperlink" Target="https://s3.us.cloud-object-storage.appdomain.cloud/cf-courses-data/CognitiveClass/DP0701EN/version-2/Metadata.pdf"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6.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10.png"/><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13"/>
          <p:cNvSpPr/>
          <p:nvPr/>
        </p:nvSpPr>
        <p:spPr>
          <a:xfrm>
            <a:off x="0" y="0"/>
            <a:ext cx="12192000" cy="6858000"/>
          </a:xfrm>
          <a:prstGeom prst="rect">
            <a:avLst/>
          </a:prstGeom>
          <a:gradFill>
            <a:gsLst>
              <a:gs pos="0">
                <a:schemeClr val="accent2"/>
              </a:gs>
              <a:gs pos="100000">
                <a:schemeClr val="accent4"/>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a:ea typeface="Open Sans"/>
              <a:cs typeface="Open Sans"/>
              <a:sym typeface="Open Sans"/>
            </a:endParaRPr>
          </a:p>
        </p:txBody>
      </p:sp>
      <p:pic>
        <p:nvPicPr>
          <p:cNvPr id="96" name="Google Shape;96;p13"/>
          <p:cNvPicPr preferRelativeResize="0"/>
          <p:nvPr/>
        </p:nvPicPr>
        <p:blipFill rotWithShape="1">
          <a:blip r:embed="rId3">
            <a:alphaModFix/>
          </a:blip>
          <a:srcRect b="0" l="0" r="0" t="0"/>
          <a:stretch/>
        </p:blipFill>
        <p:spPr>
          <a:xfrm>
            <a:off x="20" y="-1"/>
            <a:ext cx="12191979" cy="6857999"/>
          </a:xfrm>
          <a:prstGeom prst="rect">
            <a:avLst/>
          </a:prstGeom>
          <a:noFill/>
          <a:ln>
            <a:noFill/>
          </a:ln>
        </p:spPr>
      </p:pic>
      <p:sp>
        <p:nvSpPr>
          <p:cNvPr id="97" name="Google Shape;97;p13"/>
          <p:cNvSpPr/>
          <p:nvPr/>
        </p:nvSpPr>
        <p:spPr>
          <a:xfrm>
            <a:off x="0" y="4013735"/>
            <a:ext cx="12192000" cy="2844264"/>
          </a:xfrm>
          <a:prstGeom prst="rect">
            <a:avLst/>
          </a:prstGeom>
          <a:gradFill>
            <a:gsLst>
              <a:gs pos="0">
                <a:srgbClr val="243FFF">
                  <a:alpha val="60000"/>
                </a:srgbClr>
              </a:gs>
              <a:gs pos="100000">
                <a:srgbClr val="FF9022">
                  <a:alpha val="60000"/>
                </a:srgbClr>
              </a:gs>
            </a:gsLst>
            <a:lin ang="18900000" scaled="0"/>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Open Sans"/>
              <a:ea typeface="Open Sans"/>
              <a:cs typeface="Open Sans"/>
              <a:sym typeface="Open Sans"/>
            </a:endParaRPr>
          </a:p>
        </p:txBody>
      </p:sp>
      <p:sp>
        <p:nvSpPr>
          <p:cNvPr id="98" name="Google Shape;98;p13"/>
          <p:cNvSpPr/>
          <p:nvPr/>
        </p:nvSpPr>
        <p:spPr>
          <a:xfrm>
            <a:off x="6977297" y="4218022"/>
            <a:ext cx="151536" cy="151536"/>
          </a:xfrm>
          <a:custGeom>
            <a:rect b="b" l="l" r="r" t="t"/>
            <a:pathLst>
              <a:path extrusionOk="0" h="151536" w="151536">
                <a:moveTo>
                  <a:pt x="141251" y="65483"/>
                </a:moveTo>
                <a:lnTo>
                  <a:pt x="86053" y="65483"/>
                </a:lnTo>
                <a:lnTo>
                  <a:pt x="86053" y="10285"/>
                </a:lnTo>
                <a:cubicBezTo>
                  <a:pt x="86053" y="4605"/>
                  <a:pt x="81448" y="0"/>
                  <a:pt x="75768" y="0"/>
                </a:cubicBezTo>
                <a:cubicBezTo>
                  <a:pt x="70088" y="0"/>
                  <a:pt x="65483" y="4605"/>
                  <a:pt x="65483" y="10285"/>
                </a:cubicBezTo>
                <a:lnTo>
                  <a:pt x="65483" y="65483"/>
                </a:lnTo>
                <a:lnTo>
                  <a:pt x="10285" y="65483"/>
                </a:lnTo>
                <a:cubicBezTo>
                  <a:pt x="4605" y="65483"/>
                  <a:pt x="0" y="70088"/>
                  <a:pt x="0" y="75768"/>
                </a:cubicBezTo>
                <a:cubicBezTo>
                  <a:pt x="0" y="81448"/>
                  <a:pt x="4605" y="86053"/>
                  <a:pt x="10285" y="86053"/>
                </a:cubicBezTo>
                <a:lnTo>
                  <a:pt x="65483" y="86053"/>
                </a:lnTo>
                <a:lnTo>
                  <a:pt x="65483" y="141251"/>
                </a:lnTo>
                <a:cubicBezTo>
                  <a:pt x="65483" y="146931"/>
                  <a:pt x="70088" y="151536"/>
                  <a:pt x="75768" y="151536"/>
                </a:cubicBezTo>
                <a:cubicBezTo>
                  <a:pt x="81448" y="151536"/>
                  <a:pt x="86053" y="146931"/>
                  <a:pt x="86053" y="141251"/>
                </a:cubicBezTo>
                <a:lnTo>
                  <a:pt x="86053" y="86053"/>
                </a:lnTo>
                <a:lnTo>
                  <a:pt x="141251" y="86053"/>
                </a:lnTo>
                <a:cubicBezTo>
                  <a:pt x="146931" y="86053"/>
                  <a:pt x="151536" y="81448"/>
                  <a:pt x="151536" y="75768"/>
                </a:cubicBezTo>
                <a:cubicBezTo>
                  <a:pt x="151536" y="70088"/>
                  <a:pt x="146931" y="65483"/>
                  <a:pt x="141251" y="65483"/>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99" name="Google Shape;99;p13"/>
          <p:cNvSpPr/>
          <p:nvPr/>
        </p:nvSpPr>
        <p:spPr>
          <a:xfrm>
            <a:off x="7341138" y="4428031"/>
            <a:ext cx="108625" cy="108625"/>
          </a:xfrm>
          <a:custGeom>
            <a:rect b="b" l="l" r="r" t="t"/>
            <a:pathLst>
              <a:path extrusionOk="0" h="108625" w="108625">
                <a:moveTo>
                  <a:pt x="54313" y="16053"/>
                </a:moveTo>
                <a:cubicBezTo>
                  <a:pt x="75442" y="16053"/>
                  <a:pt x="92572" y="33182"/>
                  <a:pt x="92572" y="54313"/>
                </a:cubicBezTo>
                <a:cubicBezTo>
                  <a:pt x="92572" y="75442"/>
                  <a:pt x="75442" y="92572"/>
                  <a:pt x="54313" y="92572"/>
                </a:cubicBezTo>
                <a:cubicBezTo>
                  <a:pt x="33182" y="92572"/>
                  <a:pt x="16053" y="75442"/>
                  <a:pt x="16053" y="54313"/>
                </a:cubicBezTo>
                <a:cubicBezTo>
                  <a:pt x="16074" y="33191"/>
                  <a:pt x="33191" y="16074"/>
                  <a:pt x="54313" y="16053"/>
                </a:cubicBezTo>
                <a:moveTo>
                  <a:pt x="54313" y="0"/>
                </a:moveTo>
                <a:cubicBezTo>
                  <a:pt x="24317" y="0"/>
                  <a:pt x="0" y="24317"/>
                  <a:pt x="0" y="54313"/>
                </a:cubicBezTo>
                <a:cubicBezTo>
                  <a:pt x="0" y="84309"/>
                  <a:pt x="24317" y="108625"/>
                  <a:pt x="54313" y="108625"/>
                </a:cubicBezTo>
                <a:cubicBezTo>
                  <a:pt x="84309" y="108625"/>
                  <a:pt x="108625" y="84309"/>
                  <a:pt x="108625" y="54313"/>
                </a:cubicBezTo>
                <a:cubicBezTo>
                  <a:pt x="108625" y="24317"/>
                  <a:pt x="84309" y="0"/>
                  <a:pt x="54313" y="0"/>
                </a:cubicBezTo>
                <a:close/>
              </a:path>
            </a:pathLst>
          </a:custGeom>
          <a:solidFill>
            <a:schemeClr val="lt1"/>
          </a:solidFill>
          <a:ln>
            <a:noFill/>
          </a:ln>
        </p:spPr>
        <p:txBody>
          <a:bodyPr anchorCtr="0" anchor="ctr"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Open Sans"/>
              <a:ea typeface="Open Sans"/>
              <a:cs typeface="Open Sans"/>
              <a:sym typeface="Open Sans"/>
            </a:endParaRPr>
          </a:p>
        </p:txBody>
      </p:sp>
      <p:sp>
        <p:nvSpPr>
          <p:cNvPr id="100" name="Google Shape;100;p13"/>
          <p:cNvSpPr txBox="1"/>
          <p:nvPr>
            <p:ph type="ctrTitle"/>
          </p:nvPr>
        </p:nvSpPr>
        <p:spPr>
          <a:xfrm>
            <a:off x="994873" y="4293326"/>
            <a:ext cx="6347918" cy="184059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lt1"/>
              </a:buClr>
              <a:buSzPts val="5400"/>
              <a:buFont typeface="Open Sans"/>
              <a:buNone/>
            </a:pPr>
            <a:r>
              <a:rPr lang="en-US" sz="5400">
                <a:solidFill>
                  <a:schemeClr val="lt1"/>
                </a:solidFill>
              </a:rPr>
              <a:t>PREDICTING COLLISIONS</a:t>
            </a:r>
            <a:endParaRPr sz="5400">
              <a:solidFill>
                <a:schemeClr val="lt1"/>
              </a:solidFill>
            </a:endParaRPr>
          </a:p>
        </p:txBody>
      </p:sp>
      <p:sp>
        <p:nvSpPr>
          <p:cNvPr id="101" name="Google Shape;101;p13"/>
          <p:cNvSpPr txBox="1"/>
          <p:nvPr>
            <p:ph idx="1" type="subTitle"/>
          </p:nvPr>
        </p:nvSpPr>
        <p:spPr>
          <a:xfrm>
            <a:off x="7449798" y="4284982"/>
            <a:ext cx="3633923" cy="1848934"/>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2000"/>
              <a:buNone/>
            </a:pPr>
            <a:r>
              <a:t/>
            </a:r>
            <a:endParaRPr sz="2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Open Sans"/>
              <a:buNone/>
            </a:pPr>
            <a:r>
              <a:rPr lang="en-US"/>
              <a:t>Predicting collisions</a:t>
            </a:r>
            <a:endParaRPr/>
          </a:p>
        </p:txBody>
      </p:sp>
      <p:sp>
        <p:nvSpPr>
          <p:cNvPr id="107" name="Google Shape;107;p1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a:solidFill>
                  <a:srgbClr val="000000"/>
                </a:solidFill>
                <a:latin typeface="Helvetica Neue"/>
                <a:ea typeface="Helvetica Neue"/>
                <a:cs typeface="Helvetica Neue"/>
                <a:sym typeface="Helvetica Neue"/>
              </a:rPr>
              <a:t>In this project we will try to predict </a:t>
            </a:r>
            <a:r>
              <a:rPr b="1" i="0" lang="en-US">
                <a:solidFill>
                  <a:srgbClr val="000000"/>
                </a:solidFill>
                <a:latin typeface="Helvetica Neue"/>
                <a:ea typeface="Helvetica Neue"/>
                <a:cs typeface="Helvetica Neue"/>
                <a:sym typeface="Helvetica Neue"/>
              </a:rPr>
              <a:t>Injury Collision</a:t>
            </a:r>
            <a:r>
              <a:rPr b="0" i="0" lang="en-US">
                <a:solidFill>
                  <a:srgbClr val="000000"/>
                </a:solidFill>
                <a:latin typeface="Helvetica Neue"/>
                <a:ea typeface="Helvetica Neue"/>
                <a:cs typeface="Helvetica Neue"/>
                <a:sym typeface="Helvetica Neue"/>
              </a:rPr>
              <a:t> and </a:t>
            </a:r>
            <a:r>
              <a:rPr b="1" i="0" lang="en-US">
                <a:solidFill>
                  <a:srgbClr val="000000"/>
                </a:solidFill>
                <a:latin typeface="Helvetica Neue"/>
                <a:ea typeface="Helvetica Neue"/>
                <a:cs typeface="Helvetica Neue"/>
                <a:sym typeface="Helvetica Neue"/>
              </a:rPr>
              <a:t>Property Damage Only Collision</a:t>
            </a:r>
            <a:r>
              <a:rPr b="0" i="0" lang="en-US">
                <a:solidFill>
                  <a:srgbClr val="000000"/>
                </a:solidFill>
                <a:latin typeface="Helvetica Neue"/>
                <a:ea typeface="Helvetica Neue"/>
                <a:cs typeface="Helvetica Neue"/>
                <a:sym typeface="Helvetica Neue"/>
              </a:rPr>
              <a:t>, this report are aim to stakeholders interested preventing and reducing injury collisions and Property Damage Only Collision.</a:t>
            </a:r>
            <a:endParaRPr/>
          </a:p>
          <a:p>
            <a:pPr indent="-228600" lvl="0" marL="228600" rtl="0" algn="l">
              <a:lnSpc>
                <a:spcPct val="90000"/>
              </a:lnSpc>
              <a:spcBef>
                <a:spcPts val="1000"/>
              </a:spcBef>
              <a:spcAft>
                <a:spcPts val="0"/>
              </a:spcAft>
              <a:buClr>
                <a:srgbClr val="000000"/>
              </a:buClr>
              <a:buSzPts val="2800"/>
              <a:buChar char="•"/>
            </a:pPr>
            <a:r>
              <a:rPr b="0" i="0" lang="en-US">
                <a:solidFill>
                  <a:srgbClr val="000000"/>
                </a:solidFill>
                <a:latin typeface="Helvetica Neue"/>
                <a:ea typeface="Helvetica Neue"/>
                <a:cs typeface="Helvetica Neue"/>
                <a:sym typeface="Helvetica Neue"/>
              </a:rPr>
              <a:t>All collisions provided by SPD and recorded by Traffic Records. This includes all types of collisions. Collisions will display at the intersection or mid-block of a segment. Timeframe: 2004 to Present. Dataset can be found by </a:t>
            </a:r>
            <a:r>
              <a:rPr b="0" i="0" lang="en-US" u="sng">
                <a:solidFill>
                  <a:schemeClr val="hlink"/>
                </a:solidFill>
                <a:latin typeface="Helvetica Neue"/>
                <a:ea typeface="Helvetica Neue"/>
                <a:cs typeface="Helvetica Neue"/>
                <a:sym typeface="Helvetica Neue"/>
                <a:hlinkClick r:id="rId3"/>
              </a:rPr>
              <a:t>Link</a:t>
            </a:r>
            <a:r>
              <a:rPr b="0" i="0" lang="en-US">
                <a:solidFill>
                  <a:srgbClr val="000000"/>
                </a:solidFill>
                <a:latin typeface="Helvetica Neue"/>
                <a:ea typeface="Helvetica Neue"/>
                <a:cs typeface="Helvetica Neue"/>
                <a:sym typeface="Helvetica Neue"/>
              </a:rPr>
              <a:t>. MetaData can be found by </a:t>
            </a:r>
            <a:r>
              <a:rPr b="0" i="0" lang="en-US" u="sng">
                <a:solidFill>
                  <a:schemeClr val="hlink"/>
                </a:solidFill>
                <a:latin typeface="Helvetica Neue"/>
                <a:ea typeface="Helvetica Neue"/>
                <a:cs typeface="Helvetica Neue"/>
                <a:sym typeface="Helvetica Neue"/>
                <a:hlinkClick r:id="rId4"/>
              </a:rPr>
              <a:t>Link</a:t>
            </a:r>
            <a:r>
              <a:rPr b="0" i="0" lang="en-US">
                <a:solidFill>
                  <a:srgbClr val="000000"/>
                </a:solidFill>
                <a:latin typeface="Helvetica Neue"/>
                <a:ea typeface="Helvetica Neue"/>
                <a:cs typeface="Helvetica Neue"/>
                <a:sym typeface="Helvetica Neue"/>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Open Sans"/>
              <a:buNone/>
            </a:pPr>
            <a:r>
              <a:rPr lang="en-US"/>
              <a:t>Dataset info</a:t>
            </a:r>
            <a:endParaRPr/>
          </a:p>
        </p:txBody>
      </p:sp>
      <p:sp>
        <p:nvSpPr>
          <p:cNvPr id="113" name="Google Shape;113;p1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Shape : 194673, 38</a:t>
            </a:r>
            <a:endParaRPr/>
          </a:p>
          <a:p>
            <a:pPr indent="-228600" lvl="0" marL="228600" rtl="0" algn="l">
              <a:lnSpc>
                <a:spcPct val="90000"/>
              </a:lnSpc>
              <a:spcBef>
                <a:spcPts val="1000"/>
              </a:spcBef>
              <a:spcAft>
                <a:spcPts val="0"/>
              </a:spcAft>
              <a:buClr>
                <a:schemeClr val="dk1"/>
              </a:buClr>
              <a:buSzPts val="2800"/>
              <a:buChar char="•"/>
            </a:pPr>
            <a:r>
              <a:rPr lang="en-US"/>
              <a:t>Top missing value features</a:t>
            </a:r>
            <a:endParaRPr/>
          </a:p>
        </p:txBody>
      </p:sp>
      <p:sp>
        <p:nvSpPr>
          <p:cNvPr id="114" name="Google Shape;114;p15"/>
          <p:cNvSpPr txBox="1"/>
          <p:nvPr>
            <p:ph idx="2" type="body"/>
          </p:nvPr>
        </p:nvSpPr>
        <p:spPr>
          <a:xfrm>
            <a:off x="6342679" y="512300"/>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Columns types</a:t>
            </a:r>
            <a:endParaRPr/>
          </a:p>
        </p:txBody>
      </p:sp>
      <p:pic>
        <p:nvPicPr>
          <p:cNvPr id="115" name="Google Shape;115;p15"/>
          <p:cNvPicPr preferRelativeResize="0"/>
          <p:nvPr/>
        </p:nvPicPr>
        <p:blipFill rotWithShape="1">
          <a:blip r:embed="rId3">
            <a:alphaModFix/>
          </a:blip>
          <a:srcRect b="0" l="0" r="0" t="0"/>
          <a:stretch/>
        </p:blipFill>
        <p:spPr>
          <a:xfrm>
            <a:off x="973492" y="3282009"/>
            <a:ext cx="4705350" cy="2105025"/>
          </a:xfrm>
          <a:prstGeom prst="rect">
            <a:avLst/>
          </a:prstGeom>
          <a:noFill/>
          <a:ln>
            <a:noFill/>
          </a:ln>
        </p:spPr>
      </p:pic>
      <p:pic>
        <p:nvPicPr>
          <p:cNvPr id="116" name="Google Shape;116;p15"/>
          <p:cNvPicPr preferRelativeResize="0"/>
          <p:nvPr/>
        </p:nvPicPr>
        <p:blipFill rotWithShape="1">
          <a:blip r:embed="rId4">
            <a:alphaModFix/>
          </a:blip>
          <a:srcRect b="0" l="0" r="0" t="0"/>
          <a:stretch/>
        </p:blipFill>
        <p:spPr>
          <a:xfrm>
            <a:off x="6619450" y="1067925"/>
            <a:ext cx="2438316" cy="5277775"/>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 name="Shape 120"/>
        <p:cNvGrpSpPr/>
        <p:nvPr/>
      </p:nvGrpSpPr>
      <p:grpSpPr>
        <a:xfrm>
          <a:off x="0" y="0"/>
          <a:ext cx="0" cy="0"/>
          <a:chOff x="0" y="0"/>
          <a:chExt cx="0" cy="0"/>
        </a:xfrm>
      </p:grpSpPr>
      <p:sp>
        <p:nvSpPr>
          <p:cNvPr id="121" name="Google Shape;121;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Open Sans"/>
              <a:buNone/>
            </a:pPr>
            <a:r>
              <a:rPr lang="en-US"/>
              <a:t>Targets</a:t>
            </a:r>
            <a:endParaRPr/>
          </a:p>
        </p:txBody>
      </p:sp>
      <p:sp>
        <p:nvSpPr>
          <p:cNvPr id="122" name="Google Shape;122;p16"/>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Severity Code</a:t>
            </a:r>
            <a:endParaRPr/>
          </a:p>
          <a:p>
            <a:pPr indent="-228600" lvl="1" marL="685800" rtl="0" algn="l">
              <a:lnSpc>
                <a:spcPct val="90000"/>
              </a:lnSpc>
              <a:spcBef>
                <a:spcPts val="500"/>
              </a:spcBef>
              <a:spcAft>
                <a:spcPts val="0"/>
              </a:spcAft>
              <a:buClr>
                <a:schemeClr val="dk1"/>
              </a:buClr>
              <a:buSzPts val="2400"/>
              <a:buChar char="•"/>
            </a:pPr>
            <a:r>
              <a:rPr lang="en-US"/>
              <a:t>2: Injury Collision</a:t>
            </a:r>
            <a:endParaRPr/>
          </a:p>
          <a:p>
            <a:pPr indent="-228600" lvl="1" marL="685800" rtl="0" algn="l">
              <a:lnSpc>
                <a:spcPct val="90000"/>
              </a:lnSpc>
              <a:spcBef>
                <a:spcPts val="500"/>
              </a:spcBef>
              <a:spcAft>
                <a:spcPts val="0"/>
              </a:spcAft>
              <a:buClr>
                <a:schemeClr val="dk1"/>
              </a:buClr>
              <a:buSzPts val="2400"/>
              <a:buChar char="•"/>
            </a:pPr>
            <a:r>
              <a:rPr lang="en-US"/>
              <a:t>1: Property Damage Only Collision</a:t>
            </a:r>
            <a:endParaRPr/>
          </a:p>
          <a:p>
            <a:pPr indent="-228600" lvl="0" marL="228600" rtl="0" algn="l">
              <a:lnSpc>
                <a:spcPct val="90000"/>
              </a:lnSpc>
              <a:spcBef>
                <a:spcPts val="1000"/>
              </a:spcBef>
              <a:spcAft>
                <a:spcPts val="0"/>
              </a:spcAft>
              <a:buClr>
                <a:schemeClr val="dk1"/>
              </a:buClr>
              <a:buSzPts val="2800"/>
              <a:buChar char="•"/>
            </a:pPr>
            <a:r>
              <a:rPr lang="en-US"/>
              <a:t>We will transform Injury collision to 1 and Property to 0.</a:t>
            </a:r>
            <a:endParaRPr/>
          </a:p>
        </p:txBody>
      </p:sp>
      <p:pic>
        <p:nvPicPr>
          <p:cNvPr id="123" name="Google Shape;123;p16"/>
          <p:cNvPicPr preferRelativeResize="0"/>
          <p:nvPr>
            <p:ph idx="1" type="body"/>
          </p:nvPr>
        </p:nvPicPr>
        <p:blipFill rotWithShape="1">
          <a:blip r:embed="rId3">
            <a:alphaModFix/>
          </a:blip>
          <a:srcRect b="0" l="0" r="0" t="0"/>
          <a:stretch/>
        </p:blipFill>
        <p:spPr>
          <a:xfrm>
            <a:off x="907475" y="2400729"/>
            <a:ext cx="5043049" cy="3201129"/>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p1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Open Sans"/>
              <a:buNone/>
            </a:pPr>
            <a:r>
              <a:rPr lang="en-US"/>
              <a:t>Collision vs Collision address type</a:t>
            </a:r>
            <a:endParaRPr/>
          </a:p>
        </p:txBody>
      </p:sp>
      <p:sp>
        <p:nvSpPr>
          <p:cNvPr id="129" name="Google Shape;129;p1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a:solidFill>
                  <a:srgbClr val="000000"/>
                </a:solidFill>
                <a:latin typeface="Helvetica Neue"/>
                <a:ea typeface="Helvetica Neue"/>
                <a:cs typeface="Helvetica Neue"/>
                <a:sym typeface="Helvetica Neue"/>
              </a:rPr>
              <a:t>With this plot and table we can see that intersection have higher percentage of Injury Collision.</a:t>
            </a:r>
            <a:endParaRPr/>
          </a:p>
        </p:txBody>
      </p:sp>
      <p:pic>
        <p:nvPicPr>
          <p:cNvPr id="130" name="Google Shape;130;p17"/>
          <p:cNvPicPr preferRelativeResize="0"/>
          <p:nvPr>
            <p:ph idx="1" type="body"/>
          </p:nvPr>
        </p:nvPicPr>
        <p:blipFill rotWithShape="1">
          <a:blip r:embed="rId3">
            <a:alphaModFix/>
          </a:blip>
          <a:srcRect b="0" l="0" r="0" t="0"/>
          <a:stretch/>
        </p:blipFill>
        <p:spPr>
          <a:xfrm>
            <a:off x="958287" y="2311809"/>
            <a:ext cx="4941426" cy="3378970"/>
          </a:xfrm>
          <a:prstGeom prst="rect">
            <a:avLst/>
          </a:prstGeom>
          <a:noFill/>
          <a:ln>
            <a:noFill/>
          </a:ln>
        </p:spPr>
      </p:pic>
      <p:pic>
        <p:nvPicPr>
          <p:cNvPr id="131" name="Google Shape;131;p17"/>
          <p:cNvPicPr preferRelativeResize="0"/>
          <p:nvPr/>
        </p:nvPicPr>
        <p:blipFill rotWithShape="1">
          <a:blip r:embed="rId4">
            <a:alphaModFix/>
          </a:blip>
          <a:srcRect b="0" l="0" r="0" t="0"/>
          <a:stretch/>
        </p:blipFill>
        <p:spPr>
          <a:xfrm>
            <a:off x="6172200" y="3567297"/>
            <a:ext cx="1857375" cy="128587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 name="Shape 135"/>
        <p:cNvGrpSpPr/>
        <p:nvPr/>
      </p:nvGrpSpPr>
      <p:grpSpPr>
        <a:xfrm>
          <a:off x="0" y="0"/>
          <a:ext cx="0" cy="0"/>
          <a:chOff x="0" y="0"/>
          <a:chExt cx="0" cy="0"/>
        </a:xfrm>
      </p:grpSpPr>
      <p:sp>
        <p:nvSpPr>
          <p:cNvPr id="136" name="Google Shape;136;p1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Open Sans"/>
              <a:buNone/>
            </a:pPr>
            <a:r>
              <a:rPr lang="en-US"/>
              <a:t>Collision vs Month</a:t>
            </a:r>
            <a:endParaRPr/>
          </a:p>
        </p:txBody>
      </p:sp>
      <p:sp>
        <p:nvSpPr>
          <p:cNvPr id="137" name="Google Shape;137;p1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chemeClr val="dk1"/>
              </a:buClr>
              <a:buSzPts val="2800"/>
              <a:buChar char="•"/>
            </a:pPr>
            <a:r>
              <a:rPr lang="en-US"/>
              <a:t>Through this chart can see the collision trend through out each month.</a:t>
            </a:r>
            <a:endParaRPr/>
          </a:p>
        </p:txBody>
      </p:sp>
      <p:pic>
        <p:nvPicPr>
          <p:cNvPr id="138" name="Google Shape;138;p18"/>
          <p:cNvPicPr preferRelativeResize="0"/>
          <p:nvPr>
            <p:ph idx="1" type="body"/>
          </p:nvPr>
        </p:nvPicPr>
        <p:blipFill rotWithShape="1">
          <a:blip r:embed="rId3">
            <a:alphaModFix/>
          </a:blip>
          <a:srcRect b="0" l="0" r="0" t="0"/>
          <a:stretch/>
        </p:blipFill>
        <p:spPr>
          <a:xfrm>
            <a:off x="977341" y="2311809"/>
            <a:ext cx="4903317" cy="3378970"/>
          </a:xfrm>
          <a:prstGeom prst="rect">
            <a:avLst/>
          </a:prstGeom>
          <a:noFill/>
          <a:ln>
            <a:noFill/>
          </a:ln>
        </p:spPr>
      </p:pic>
      <p:pic>
        <p:nvPicPr>
          <p:cNvPr id="139" name="Google Shape;139;p18"/>
          <p:cNvPicPr preferRelativeResize="0"/>
          <p:nvPr/>
        </p:nvPicPr>
        <p:blipFill rotWithShape="1">
          <a:blip r:embed="rId4">
            <a:alphaModFix/>
          </a:blip>
          <a:srcRect b="0" l="0" r="0" t="0"/>
          <a:stretch/>
        </p:blipFill>
        <p:spPr>
          <a:xfrm>
            <a:off x="9547784" y="2759075"/>
            <a:ext cx="1666875" cy="35528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p19"/>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Open Sans"/>
              <a:buNone/>
            </a:pPr>
            <a:r>
              <a:rPr lang="en-US"/>
              <a:t>Heatmap State Collision Code Dictionary vs Hour</a:t>
            </a:r>
            <a:endParaRPr/>
          </a:p>
        </p:txBody>
      </p:sp>
      <p:sp>
        <p:nvSpPr>
          <p:cNvPr id="145" name="Google Shape;145;p19"/>
          <p:cNvSpPr txBox="1"/>
          <p:nvPr>
            <p:ph idx="2" type="body"/>
          </p:nvPr>
        </p:nvSpPr>
        <p:spPr>
          <a:xfrm>
            <a:off x="8345010" y="1825625"/>
            <a:ext cx="3008790" cy="4351338"/>
          </a:xfrm>
          <a:prstGeom prst="rect">
            <a:avLst/>
          </a:prstGeom>
          <a:noFill/>
          <a:ln>
            <a:noFill/>
          </a:ln>
        </p:spPr>
        <p:txBody>
          <a:bodyPr anchorCtr="0" anchor="t" bIns="45700" lIns="91425" spcFirstLastPara="1" rIns="91425" wrap="square" tIns="45700">
            <a:normAutofit lnSpcReduction="10000"/>
          </a:bodyPr>
          <a:lstStyle/>
          <a:p>
            <a:pPr indent="-228600" lvl="0" marL="228600" rtl="0" algn="l">
              <a:lnSpc>
                <a:spcPct val="90000"/>
              </a:lnSpc>
              <a:spcBef>
                <a:spcPts val="0"/>
              </a:spcBef>
              <a:spcAft>
                <a:spcPts val="0"/>
              </a:spcAft>
              <a:buClr>
                <a:schemeClr val="dk1"/>
              </a:buClr>
              <a:buSzPts val="2800"/>
              <a:buChar char="•"/>
            </a:pPr>
            <a:r>
              <a:rPr lang="en-US"/>
              <a:t>The darker the point is, the higher percentage of injury collision are.</a:t>
            </a:r>
            <a:endParaRPr/>
          </a:p>
          <a:p>
            <a:pPr indent="-228600" lvl="0" marL="228600" rtl="0" algn="l">
              <a:lnSpc>
                <a:spcPct val="90000"/>
              </a:lnSpc>
              <a:spcBef>
                <a:spcPts val="1000"/>
              </a:spcBef>
              <a:spcAft>
                <a:spcPts val="0"/>
              </a:spcAft>
              <a:buClr>
                <a:schemeClr val="dk1"/>
              </a:buClr>
              <a:buSzPts val="2800"/>
              <a:buChar char="•"/>
            </a:pPr>
            <a:r>
              <a:rPr lang="en-US"/>
              <a:t>The slides after are all the same view but with different features.</a:t>
            </a:r>
            <a:endParaRPr/>
          </a:p>
        </p:txBody>
      </p:sp>
      <p:pic>
        <p:nvPicPr>
          <p:cNvPr id="146" name="Google Shape;146;p19"/>
          <p:cNvPicPr preferRelativeResize="0"/>
          <p:nvPr>
            <p:ph idx="1" type="body"/>
          </p:nvPr>
        </p:nvPicPr>
        <p:blipFill rotWithShape="1">
          <a:blip r:embed="rId3">
            <a:alphaModFix/>
          </a:blip>
          <a:srcRect b="0" l="0" r="0" t="0"/>
          <a:stretch/>
        </p:blipFill>
        <p:spPr>
          <a:xfrm>
            <a:off x="838200" y="2314686"/>
            <a:ext cx="5181600" cy="3373215"/>
          </a:xfrm>
          <a:prstGeom prst="rect">
            <a:avLst/>
          </a:prstGeom>
          <a:noFill/>
          <a:ln>
            <a:noFill/>
          </a:ln>
        </p:spPr>
      </p:pic>
      <p:pic>
        <p:nvPicPr>
          <p:cNvPr id="147" name="Google Shape;147;p19"/>
          <p:cNvPicPr preferRelativeResize="0"/>
          <p:nvPr/>
        </p:nvPicPr>
        <p:blipFill rotWithShape="1">
          <a:blip r:embed="rId4">
            <a:alphaModFix/>
          </a:blip>
          <a:srcRect b="0" l="0" r="0" t="0"/>
          <a:stretch/>
        </p:blipFill>
        <p:spPr>
          <a:xfrm>
            <a:off x="6172202" y="1825625"/>
            <a:ext cx="2009775" cy="4552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Open Sans"/>
              <a:buNone/>
            </a:pPr>
            <a:r>
              <a:rPr lang="en-US"/>
              <a:t>Heatmap State Collision type vs Hour by injury collision percentage</a:t>
            </a:r>
            <a:endParaRPr/>
          </a:p>
        </p:txBody>
      </p:sp>
      <p:pic>
        <p:nvPicPr>
          <p:cNvPr id="153" name="Google Shape;153;p20"/>
          <p:cNvPicPr preferRelativeResize="0"/>
          <p:nvPr>
            <p:ph idx="2" type="body"/>
          </p:nvPr>
        </p:nvPicPr>
        <p:blipFill rotWithShape="1">
          <a:blip r:embed="rId3">
            <a:alphaModFix/>
          </a:blip>
          <a:srcRect b="0" l="0" r="0" t="0"/>
          <a:stretch/>
        </p:blipFill>
        <p:spPr>
          <a:xfrm>
            <a:off x="6881628" y="2338587"/>
            <a:ext cx="2200275" cy="3048000"/>
          </a:xfrm>
          <a:prstGeom prst="rect">
            <a:avLst/>
          </a:prstGeom>
          <a:noFill/>
          <a:ln>
            <a:noFill/>
          </a:ln>
        </p:spPr>
      </p:pic>
      <p:pic>
        <p:nvPicPr>
          <p:cNvPr id="154" name="Google Shape;154;p20"/>
          <p:cNvPicPr preferRelativeResize="0"/>
          <p:nvPr>
            <p:ph idx="1" type="body"/>
          </p:nvPr>
        </p:nvPicPr>
        <p:blipFill rotWithShape="1">
          <a:blip r:embed="rId4">
            <a:alphaModFix/>
          </a:blip>
          <a:srcRect b="0" l="0" r="0" t="0"/>
          <a:stretch/>
        </p:blipFill>
        <p:spPr>
          <a:xfrm>
            <a:off x="838200" y="2338587"/>
            <a:ext cx="5181600" cy="332541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Open Sans"/>
              <a:buNone/>
            </a:pPr>
            <a:r>
              <a:rPr lang="en-US"/>
              <a:t>Heatmap Seattle Department of Transportation Code vs Hour by injury collision percentage</a:t>
            </a:r>
            <a:endParaRPr/>
          </a:p>
        </p:txBody>
      </p:sp>
      <p:pic>
        <p:nvPicPr>
          <p:cNvPr id="160" name="Google Shape;160;p21"/>
          <p:cNvPicPr preferRelativeResize="0"/>
          <p:nvPr>
            <p:ph idx="1" type="body"/>
          </p:nvPr>
        </p:nvPicPr>
        <p:blipFill rotWithShape="1">
          <a:blip r:embed="rId3">
            <a:alphaModFix/>
          </a:blip>
          <a:srcRect b="0" l="0" r="0" t="0"/>
          <a:stretch/>
        </p:blipFill>
        <p:spPr>
          <a:xfrm>
            <a:off x="3505200" y="2448106"/>
            <a:ext cx="5181600" cy="33549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Open Sans"/>
              <a:buNone/>
            </a:pPr>
            <a:r>
              <a:rPr lang="en-US"/>
              <a:t>Heatmap Seattle Department of Transportation Code vs Hour by injury collision percentage</a:t>
            </a:r>
            <a:endParaRPr/>
          </a:p>
        </p:txBody>
      </p:sp>
      <p:pic>
        <p:nvPicPr>
          <p:cNvPr id="166" name="Google Shape;166;p22"/>
          <p:cNvPicPr preferRelativeResize="0"/>
          <p:nvPr>
            <p:ph idx="1" type="body"/>
          </p:nvPr>
        </p:nvPicPr>
        <p:blipFill rotWithShape="1">
          <a:blip r:embed="rId3">
            <a:alphaModFix/>
          </a:blip>
          <a:srcRect b="0" l="0" r="0" t="0"/>
          <a:stretch/>
        </p:blipFill>
        <p:spPr>
          <a:xfrm>
            <a:off x="3439358" y="2446318"/>
            <a:ext cx="5181600" cy="348281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Open Sans"/>
              <a:buNone/>
            </a:pPr>
            <a:r>
              <a:rPr lang="en-US"/>
              <a:t>Heatmap number of pedestrians involved vs Hour by injury collision percentage</a:t>
            </a:r>
            <a:endParaRPr/>
          </a:p>
        </p:txBody>
      </p:sp>
      <p:pic>
        <p:nvPicPr>
          <p:cNvPr id="172" name="Google Shape;172;p23"/>
          <p:cNvPicPr preferRelativeResize="0"/>
          <p:nvPr>
            <p:ph idx="1" type="body"/>
          </p:nvPr>
        </p:nvPicPr>
        <p:blipFill rotWithShape="1">
          <a:blip r:embed="rId3">
            <a:alphaModFix/>
          </a:blip>
          <a:srcRect b="0" l="0" r="0" t="0"/>
          <a:stretch/>
        </p:blipFill>
        <p:spPr>
          <a:xfrm>
            <a:off x="3505200" y="2462875"/>
            <a:ext cx="5181600" cy="3325414"/>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Open Sans"/>
              <a:buNone/>
            </a:pPr>
            <a:r>
              <a:rPr lang="en-US"/>
              <a:t>Heatmap vehicles involved in the collision vs Hour by injury collision percentage</a:t>
            </a:r>
            <a:endParaRPr/>
          </a:p>
        </p:txBody>
      </p:sp>
      <p:pic>
        <p:nvPicPr>
          <p:cNvPr id="178" name="Google Shape;178;p24"/>
          <p:cNvPicPr preferRelativeResize="0"/>
          <p:nvPr>
            <p:ph idx="1" type="body"/>
          </p:nvPr>
        </p:nvPicPr>
        <p:blipFill rotWithShape="1">
          <a:blip r:embed="rId3">
            <a:alphaModFix/>
          </a:blip>
          <a:srcRect b="0" l="0" r="0" t="0"/>
          <a:stretch/>
        </p:blipFill>
        <p:spPr>
          <a:xfrm>
            <a:off x="3505200" y="2409608"/>
            <a:ext cx="5181600" cy="332541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Helvetica Neue"/>
              <a:buNone/>
            </a:pPr>
            <a:r>
              <a:rPr b="1" i="0" lang="en-US">
                <a:solidFill>
                  <a:srgbClr val="000000"/>
                </a:solidFill>
                <a:latin typeface="Helvetica Neue"/>
                <a:ea typeface="Helvetica Neue"/>
                <a:cs typeface="Helvetica Neue"/>
                <a:sym typeface="Helvetica Neue"/>
              </a:rPr>
              <a:t>Balancing targets</a:t>
            </a:r>
            <a:endParaRPr/>
          </a:p>
        </p:txBody>
      </p:sp>
      <p:sp>
        <p:nvSpPr>
          <p:cNvPr id="184" name="Google Shape;184;p25"/>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a:solidFill>
                  <a:srgbClr val="000000"/>
                </a:solidFill>
                <a:latin typeface="Helvetica Neue"/>
                <a:ea typeface="Helvetica Neue"/>
                <a:cs typeface="Helvetica Neue"/>
                <a:sym typeface="Helvetica Neue"/>
              </a:rPr>
              <a:t>At the top of this paper, we have done a histogram of targets. We know that we have </a:t>
            </a:r>
            <a:r>
              <a:rPr b="1" i="0" lang="en-US">
                <a:solidFill>
                  <a:srgbClr val="000000"/>
                </a:solidFill>
                <a:latin typeface="Helvetica Neue"/>
                <a:ea typeface="Helvetica Neue"/>
                <a:cs typeface="Helvetica Neue"/>
                <a:sym typeface="Helvetica Neue"/>
              </a:rPr>
              <a:t>unbalance dataset</a:t>
            </a:r>
            <a:r>
              <a:rPr b="0" i="0" lang="en-US">
                <a:solidFill>
                  <a:srgbClr val="000000"/>
                </a:solidFill>
                <a:latin typeface="Helvetica Neue"/>
                <a:ea typeface="Helvetica Neue"/>
                <a:cs typeface="Helvetica Neue"/>
                <a:sym typeface="Helvetica Neue"/>
              </a:rPr>
              <a:t>. So we will have to perform sampling methods, to avoid unbalance issue. In this case we choose </a:t>
            </a:r>
            <a:r>
              <a:rPr b="1" i="0" lang="en-US">
                <a:solidFill>
                  <a:srgbClr val="000000"/>
                </a:solidFill>
                <a:latin typeface="Helvetica Neue"/>
                <a:ea typeface="Helvetica Neue"/>
                <a:cs typeface="Helvetica Neue"/>
                <a:sym typeface="Helvetica Neue"/>
              </a:rPr>
              <a:t>over sampling</a:t>
            </a:r>
            <a:r>
              <a:rPr b="0" i="0" lang="en-US">
                <a:solidFill>
                  <a:srgbClr val="000000"/>
                </a:solidFill>
                <a:latin typeface="Helvetica Neue"/>
                <a:ea typeface="Helvetica Neue"/>
                <a:cs typeface="Helvetica Neue"/>
                <a:sym typeface="Helvetica Neue"/>
              </a:rPr>
              <a:t>, still there are under sampling, SMOTE to choose with.</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0000"/>
              </a:buClr>
              <a:buSzPts val="4400"/>
              <a:buFont typeface="Helvetica Neue"/>
              <a:buNone/>
            </a:pPr>
            <a:r>
              <a:rPr b="1" i="0" lang="en-US">
                <a:solidFill>
                  <a:srgbClr val="000000"/>
                </a:solidFill>
                <a:latin typeface="Helvetica Neue"/>
                <a:ea typeface="Helvetica Neue"/>
                <a:cs typeface="Helvetica Neue"/>
                <a:sym typeface="Helvetica Neue"/>
              </a:rPr>
              <a:t>Models</a:t>
            </a:r>
            <a:endParaRPr/>
          </a:p>
        </p:txBody>
      </p:sp>
      <p:sp>
        <p:nvSpPr>
          <p:cNvPr id="190" name="Google Shape;190;p2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228600" lvl="0" marL="228600" rtl="0" algn="l">
              <a:lnSpc>
                <a:spcPct val="90000"/>
              </a:lnSpc>
              <a:spcBef>
                <a:spcPts val="0"/>
              </a:spcBef>
              <a:spcAft>
                <a:spcPts val="0"/>
              </a:spcAft>
              <a:buClr>
                <a:srgbClr val="000000"/>
              </a:buClr>
              <a:buSzPts val="2800"/>
              <a:buChar char="•"/>
            </a:pPr>
            <a:r>
              <a:rPr b="0" i="0" lang="en-US">
                <a:solidFill>
                  <a:srgbClr val="000000"/>
                </a:solidFill>
                <a:latin typeface="Helvetica Neue"/>
                <a:ea typeface="Helvetica Neue"/>
                <a:cs typeface="Helvetica Neue"/>
                <a:sym typeface="Helvetica Neue"/>
              </a:rPr>
              <a:t>Models that we are going to use are </a:t>
            </a:r>
            <a:r>
              <a:rPr b="1" i="0" lang="en-US">
                <a:solidFill>
                  <a:srgbClr val="000000"/>
                </a:solidFill>
                <a:latin typeface="Helvetica Neue"/>
                <a:ea typeface="Helvetica Neue"/>
                <a:cs typeface="Helvetica Neue"/>
                <a:sym typeface="Helvetica Neue"/>
              </a:rPr>
              <a:t>LightGBM, Naive Bayes, XGBoost, MLPClassifier</a:t>
            </a:r>
            <a:r>
              <a:rPr b="0" i="0" lang="en-US">
                <a:solidFill>
                  <a:srgbClr val="000000"/>
                </a:solidFill>
                <a:latin typeface="Helvetica Neue"/>
                <a:ea typeface="Helvetica Neue"/>
                <a:cs typeface="Helvetica Neue"/>
                <a:sym typeface="Helvetica Neue"/>
              </a:rPr>
              <a:t>. This project was to predict Injury Collision and Property Damage Only Collision in our case this is a classification problem, so models that are selected should be classifier. We have chosen these due to it's faster on modeling comparing KNN and random forest, so that we could know the result and adjust to needs faster.</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Open Sans"/>
              <a:buNone/>
            </a:pPr>
            <a:r>
              <a:rPr lang="en-US"/>
              <a:t>Final Model</a:t>
            </a:r>
            <a:endParaRPr/>
          </a:p>
        </p:txBody>
      </p:sp>
      <p:pic>
        <p:nvPicPr>
          <p:cNvPr id="196" name="Google Shape;196;p27"/>
          <p:cNvPicPr preferRelativeResize="0"/>
          <p:nvPr>
            <p:ph idx="1" type="body"/>
          </p:nvPr>
        </p:nvPicPr>
        <p:blipFill rotWithShape="1">
          <a:blip r:embed="rId3">
            <a:alphaModFix/>
          </a:blip>
          <a:srcRect b="0" l="0" r="0" t="0"/>
          <a:stretch/>
        </p:blipFill>
        <p:spPr>
          <a:xfrm>
            <a:off x="1585912" y="2648744"/>
            <a:ext cx="3686175" cy="2705100"/>
          </a:xfrm>
          <a:prstGeom prst="rect">
            <a:avLst/>
          </a:prstGeom>
          <a:noFill/>
          <a:ln>
            <a:noFill/>
          </a:ln>
        </p:spPr>
      </p:pic>
      <p:sp>
        <p:nvSpPr>
          <p:cNvPr id="197" name="Google Shape;197;p27"/>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fontScale="70000" lnSpcReduction="20000"/>
          </a:bodyPr>
          <a:lstStyle/>
          <a:p>
            <a:pPr indent="-228600" lvl="0" marL="228600" rtl="0" algn="l">
              <a:lnSpc>
                <a:spcPct val="90000"/>
              </a:lnSpc>
              <a:spcBef>
                <a:spcPts val="0"/>
              </a:spcBef>
              <a:spcAft>
                <a:spcPts val="0"/>
              </a:spcAft>
              <a:buClr>
                <a:srgbClr val="000000"/>
              </a:buClr>
              <a:buSzPct val="100000"/>
              <a:buChar char="•"/>
            </a:pPr>
            <a:r>
              <a:rPr b="0" i="0" lang="en-US">
                <a:solidFill>
                  <a:srgbClr val="000000"/>
                </a:solidFill>
                <a:latin typeface="Helvetica Neue"/>
                <a:ea typeface="Helvetica Neue"/>
                <a:cs typeface="Helvetica Neue"/>
                <a:sym typeface="Helvetica Neue"/>
              </a:rPr>
              <a:t>For model evaluation will look at AUC, ROC, Sensitivity, Specificity, Precision, Accuracy.</a:t>
            </a:r>
            <a:endParaRPr b="0" i="0">
              <a:solidFill>
                <a:srgbClr val="000000"/>
              </a:solidFill>
              <a:latin typeface="Helvetica Neue"/>
              <a:ea typeface="Helvetica Neue"/>
              <a:cs typeface="Helvetica Neue"/>
              <a:sym typeface="Helvetica Neue"/>
            </a:endParaRPr>
          </a:p>
          <a:p>
            <a:pPr indent="0" lvl="0" marL="228600" rtl="0" algn="l">
              <a:lnSpc>
                <a:spcPct val="90000"/>
              </a:lnSpc>
              <a:spcBef>
                <a:spcPts val="0"/>
              </a:spcBef>
              <a:spcAft>
                <a:spcPts val="0"/>
              </a:spcAft>
              <a:buNone/>
            </a:pPr>
            <a:br>
              <a:rPr lang="en-US"/>
            </a:br>
            <a:r>
              <a:rPr b="0" i="0" lang="en-US">
                <a:solidFill>
                  <a:srgbClr val="000000"/>
                </a:solidFill>
                <a:latin typeface="Helvetica Neue"/>
                <a:ea typeface="Helvetica Neue"/>
                <a:cs typeface="Helvetica Neue"/>
                <a:sym typeface="Helvetica Neue"/>
              </a:rPr>
              <a:t>With the four model that we have applied Naive Bayes have the highest Accuracy of 0.75 but the lowest in AUC, ROC score, and it's sensitiviy is also very low at 0.2. Although it have an incredible score on specificity, but our goal was trying to avoid injury collisions, naive bayes is out of consideration.</a:t>
            </a:r>
            <a:endParaRPr b="0" i="0">
              <a:solidFill>
                <a:srgbClr val="000000"/>
              </a:solidFill>
              <a:latin typeface="Helvetica Neue"/>
              <a:ea typeface="Helvetica Neue"/>
              <a:cs typeface="Helvetica Neue"/>
              <a:sym typeface="Helvetica Neue"/>
            </a:endParaRPr>
          </a:p>
          <a:p>
            <a:pPr indent="0" lvl="0" marL="228600" rtl="0" algn="l">
              <a:lnSpc>
                <a:spcPct val="90000"/>
              </a:lnSpc>
              <a:spcBef>
                <a:spcPts val="0"/>
              </a:spcBef>
              <a:spcAft>
                <a:spcPts val="0"/>
              </a:spcAft>
              <a:buNone/>
            </a:pPr>
            <a:br>
              <a:rPr lang="en-US"/>
            </a:br>
            <a:r>
              <a:rPr b="0" i="0" lang="en-US">
                <a:solidFill>
                  <a:srgbClr val="000000"/>
                </a:solidFill>
                <a:latin typeface="Helvetica Neue"/>
                <a:ea typeface="Helvetica Neue"/>
                <a:cs typeface="Helvetica Neue"/>
                <a:sym typeface="Helvetica Neue"/>
              </a:rPr>
              <a:t>LightGBM, XGBoost, and MLPClassifier are all very close. Overall MLPClassifier have slightly out perform than the other two model.</a:t>
            </a:r>
            <a:br>
              <a:rPr lang="en-US"/>
            </a:br>
            <a:r>
              <a:rPr b="0" i="0" lang="en-US">
                <a:solidFill>
                  <a:srgbClr val="000000"/>
                </a:solidFill>
                <a:latin typeface="Helvetica Neue"/>
                <a:ea typeface="Helvetica Neue"/>
                <a:cs typeface="Helvetica Neue"/>
                <a:sym typeface="Helvetica Neue"/>
              </a:rPr>
              <a:t>In this case we will select MLPClassifier as final selection of model.</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Open Sans"/>
              <a:buNone/>
            </a:pPr>
            <a:r>
              <a:rPr lang="en-US"/>
              <a:t>Conclusion</a:t>
            </a:r>
            <a:endParaRPr/>
          </a:p>
        </p:txBody>
      </p:sp>
      <p:sp>
        <p:nvSpPr>
          <p:cNvPr id="203" name="Google Shape;203;p2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lang="en-US" sz="2500">
                <a:solidFill>
                  <a:srgbClr val="000000"/>
                </a:solidFill>
                <a:latin typeface="Helvetica Neue"/>
                <a:ea typeface="Helvetica Neue"/>
                <a:cs typeface="Helvetica Neue"/>
                <a:sym typeface="Helvetica Neue"/>
              </a:rPr>
              <a:t>Objective: predict Injury Collision vs Property Damage Only collision.</a:t>
            </a:r>
            <a:endParaRPr sz="2500">
              <a:solidFill>
                <a:srgbClr val="000000"/>
              </a:solidFill>
              <a:latin typeface="Helvetica Neue"/>
              <a:ea typeface="Helvetica Neue"/>
              <a:cs typeface="Helvetica Neue"/>
              <a:sym typeface="Helvetica Neue"/>
            </a:endParaRPr>
          </a:p>
          <a:p>
            <a:pPr indent="0" lvl="0" marL="0" rtl="0" algn="l">
              <a:lnSpc>
                <a:spcPct val="90000"/>
              </a:lnSpc>
              <a:spcBef>
                <a:spcPts val="0"/>
              </a:spcBef>
              <a:spcAft>
                <a:spcPts val="0"/>
              </a:spcAft>
              <a:buNone/>
            </a:pPr>
            <a:r>
              <a:t/>
            </a:r>
            <a:endParaRPr sz="2500">
              <a:solidFill>
                <a:srgbClr val="000000"/>
              </a:solidFill>
              <a:latin typeface="Helvetica Neue"/>
              <a:ea typeface="Helvetica Neue"/>
              <a:cs typeface="Helvetica Neue"/>
              <a:sym typeface="Helvetica Neue"/>
            </a:endParaRPr>
          </a:p>
          <a:p>
            <a:pPr indent="-387350" lvl="0" marL="457200" rtl="0" algn="l">
              <a:lnSpc>
                <a:spcPct val="115000"/>
              </a:lnSpc>
              <a:spcBef>
                <a:spcPts val="0"/>
              </a:spcBef>
              <a:spcAft>
                <a:spcPts val="0"/>
              </a:spcAft>
              <a:buClr>
                <a:srgbClr val="000000"/>
              </a:buClr>
              <a:buSzPts val="2500"/>
              <a:buFont typeface="Helvetica Neue"/>
              <a:buChar char="•"/>
            </a:pPr>
            <a:r>
              <a:rPr lang="en-US" sz="2500">
                <a:solidFill>
                  <a:srgbClr val="000000"/>
                </a:solidFill>
                <a:latin typeface="Helvetica Neue"/>
                <a:ea typeface="Helvetica Neue"/>
                <a:cs typeface="Helvetica Neue"/>
                <a:sym typeface="Helvetica Neue"/>
              </a:rPr>
              <a:t>Best model: MLPClassifier (AUC-ROC 0.711, Accuracy 0.679).</a:t>
            </a:r>
            <a:endParaRPr sz="2500">
              <a:solidFill>
                <a:srgbClr val="000000"/>
              </a:solidFill>
              <a:latin typeface="Helvetica Neue"/>
              <a:ea typeface="Helvetica Neue"/>
              <a:cs typeface="Helvetica Neue"/>
              <a:sym typeface="Helvetica Neue"/>
            </a:endParaRPr>
          </a:p>
          <a:p>
            <a:pPr indent="-387350" lvl="0" marL="457200" rtl="0" algn="l">
              <a:lnSpc>
                <a:spcPct val="115000"/>
              </a:lnSpc>
              <a:spcBef>
                <a:spcPts val="0"/>
              </a:spcBef>
              <a:spcAft>
                <a:spcPts val="0"/>
              </a:spcAft>
              <a:buClr>
                <a:srgbClr val="000000"/>
              </a:buClr>
              <a:buSzPts val="2500"/>
              <a:buFont typeface="Helvetica Neue"/>
              <a:buChar char="•"/>
            </a:pPr>
            <a:r>
              <a:rPr lang="en-US" sz="2500">
                <a:solidFill>
                  <a:srgbClr val="000000"/>
                </a:solidFill>
                <a:latin typeface="Helvetica Neue"/>
                <a:ea typeface="Helvetica Neue"/>
                <a:cs typeface="Helvetica Neue"/>
                <a:sym typeface="Helvetica Neue"/>
              </a:rPr>
              <a:t>Strength: high Injury recall (0.79), so most injury cases are detected.</a:t>
            </a:r>
            <a:endParaRPr sz="2500">
              <a:solidFill>
                <a:srgbClr val="000000"/>
              </a:solidFill>
              <a:latin typeface="Helvetica Neue"/>
              <a:ea typeface="Helvetica Neue"/>
              <a:cs typeface="Helvetica Neue"/>
              <a:sym typeface="Helvetica Neue"/>
            </a:endParaRPr>
          </a:p>
          <a:p>
            <a:pPr indent="-387350" lvl="0" marL="457200" rtl="0" algn="l">
              <a:lnSpc>
                <a:spcPct val="115000"/>
              </a:lnSpc>
              <a:spcBef>
                <a:spcPts val="0"/>
              </a:spcBef>
              <a:spcAft>
                <a:spcPts val="0"/>
              </a:spcAft>
              <a:buClr>
                <a:srgbClr val="000000"/>
              </a:buClr>
              <a:buSzPts val="2500"/>
              <a:buFont typeface="Helvetica Neue"/>
              <a:buChar char="•"/>
            </a:pPr>
            <a:r>
              <a:rPr lang="en-US" sz="2500">
                <a:solidFill>
                  <a:srgbClr val="000000"/>
                </a:solidFill>
                <a:latin typeface="Helvetica Neue"/>
                <a:ea typeface="Helvetica Neue"/>
                <a:cs typeface="Helvetica Neue"/>
                <a:sym typeface="Helvetica Neue"/>
              </a:rPr>
              <a:t>Limitation: Injury precision is 0.48, indicating many false positives.</a:t>
            </a:r>
            <a:endParaRPr sz="2500">
              <a:solidFill>
                <a:srgbClr val="000000"/>
              </a:solidFill>
              <a:latin typeface="Helvetica Neue"/>
              <a:ea typeface="Helvetica Neue"/>
              <a:cs typeface="Helvetica Neue"/>
              <a:sym typeface="Helvetica Neue"/>
            </a:endParaRPr>
          </a:p>
          <a:p>
            <a:pPr indent="-387350" lvl="0" marL="457200" rtl="0" algn="l">
              <a:lnSpc>
                <a:spcPct val="115000"/>
              </a:lnSpc>
              <a:spcBef>
                <a:spcPts val="0"/>
              </a:spcBef>
              <a:spcAft>
                <a:spcPts val="0"/>
              </a:spcAft>
              <a:buClr>
                <a:srgbClr val="000000"/>
              </a:buClr>
              <a:buSzPts val="2500"/>
              <a:buFont typeface="Helvetica Neue"/>
              <a:buChar char="•"/>
            </a:pPr>
            <a:r>
              <a:rPr lang="en-US" sz="2500">
                <a:solidFill>
                  <a:srgbClr val="000000"/>
                </a:solidFill>
                <a:latin typeface="Helvetica Neue"/>
                <a:ea typeface="Helvetica Neue"/>
                <a:cs typeface="Helvetica Neue"/>
                <a:sym typeface="Helvetica Neue"/>
              </a:rPr>
              <a:t>Practical use: good as an early warning support tool, not a standalone decision system</a:t>
            </a:r>
            <a:endParaRPr>
              <a:solidFill>
                <a:srgbClr val="000000"/>
              </a:solidFill>
              <a:latin typeface="Helvetica Neue"/>
              <a:ea typeface="Helvetica Neue"/>
              <a:cs typeface="Helvetica Neue"/>
              <a:sym typeface="Helvetica Neue"/>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GradientVTI">
  <a:themeElements>
    <a:clrScheme name="Gradient">
      <a:dk1>
        <a:srgbClr val="000000"/>
      </a:dk1>
      <a:lt1>
        <a:srgbClr val="FFFFFF"/>
      </a:lt1>
      <a:dk2>
        <a:srgbClr val="10013F"/>
      </a:dk2>
      <a:lt2>
        <a:srgbClr val="F2F0FF"/>
      </a:lt2>
      <a:accent1>
        <a:srgbClr val="814DFF"/>
      </a:accent1>
      <a:accent2>
        <a:srgbClr val="243FFF"/>
      </a:accent2>
      <a:accent3>
        <a:srgbClr val="FF83B6"/>
      </a:accent3>
      <a:accent4>
        <a:srgbClr val="FF9022"/>
      </a:accent4>
      <a:accent5>
        <a:srgbClr val="FF1F85"/>
      </a:accent5>
      <a:accent6>
        <a:srgbClr val="1A98FF"/>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